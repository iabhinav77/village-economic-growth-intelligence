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Villages</c:v>
                </c:pt>
              </c:strCache>
            </c:strRef>
          </c:tx>
          <c:spPr>
            <a:solidFill>
              <a:srgbClr val="0E9E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&lt;50</c:v>
                  </c:pt>
                  <c:pt idx="1">
                    <c:v>50-60</c:v>
                  </c:pt>
                  <c:pt idx="2">
                    <c:v>60-65</c:v>
                  </c:pt>
                  <c:pt idx="3">
                    <c:v>65-70</c:v>
                  </c:pt>
                  <c:pt idx="4">
                    <c:v>70-75</c:v>
                  </c:pt>
                  <c:pt idx="5">
                    <c:v>75-80</c:v>
                  </c:pt>
                  <c:pt idx="6">
                    <c:v>80+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95</c:v>
                </c:pt>
                <c:pt idx="4">
                  <c:v>3</c:v>
                </c:pt>
                <c:pt idx="5">
                  <c:v>0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0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D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0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E4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E88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chandigarh</c:v>
                  </c:pt>
                  <c:pt idx="1">
                    <c:v>nct of de.</c:v>
                  </c:pt>
                  <c:pt idx="2">
                    <c:v>daman diu</c:v>
                  </c:pt>
                  <c:pt idx="3">
                    <c:v>puducherry</c:v>
                  </c:pt>
                  <c:pt idx="4">
                    <c:v>dadra nag.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36.5</c:v>
                </c:pt>
                <c:pt idx="1">
                  <c:v>36.5</c:v>
                </c:pt>
                <c:pt idx="2">
                  <c:v>25.51</c:v>
                </c:pt>
                <c:pt idx="3">
                  <c:v>15.81</c:v>
                </c:pt>
                <c:pt idx="4">
                  <c:v>14.74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0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2A3D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0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E4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2296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 Economic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Intelligence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108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90A8"/>
                </a:solidFill>
              </a:rPr>
              <a:t>Identifying India's Top 100 Fastest-Growing Villages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A90A8"/>
                </a:solidFill>
              </a:rPr>
              <a:t>Using Satellite Data and Publicly Available Datasets  ·  2019–2021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4069080"/>
            <a:ext cx="1965960" cy="868680"/>
          </a:xfrm>
          <a:prstGeom prst="rect">
            <a:avLst/>
          </a:prstGeom>
          <a:solidFill>
            <a:srgbClr val="1A2E47"/>
          </a:solidFill>
          <a:ln w="12700">
            <a:solidFill>
              <a:srgbClr val="0E9E82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0965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E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44805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Villages Ranked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4069080"/>
            <a:ext cx="1965960" cy="868680"/>
          </a:xfrm>
          <a:prstGeom prst="rect">
            <a:avLst/>
          </a:prstGeom>
          <a:solidFill>
            <a:srgbClr val="1A2E47"/>
          </a:solidFill>
          <a:ln w="12700">
            <a:solidFill>
              <a:srgbClr val="0E9E82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40965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E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44805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States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4069080"/>
            <a:ext cx="1965960" cy="868680"/>
          </a:xfrm>
          <a:prstGeom prst="rect">
            <a:avLst/>
          </a:prstGeom>
          <a:solidFill>
            <a:srgbClr val="1A2E47"/>
          </a:solidFill>
          <a:ln w="12700">
            <a:solidFill>
              <a:srgbClr val="0E9E82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40965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E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44805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12280" y="4069080"/>
            <a:ext cx="1965960" cy="868680"/>
          </a:xfrm>
          <a:prstGeom prst="rect">
            <a:avLst/>
          </a:prstGeom>
          <a:solidFill>
            <a:srgbClr val="1A2E47"/>
          </a:solidFill>
          <a:ln w="12700">
            <a:solidFill>
              <a:srgbClr val="0E9E82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409651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E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2019–21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12280" y="44805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Time Period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64008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90195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Census is 14 years old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India's last Census was 2011. Village-level economic data is over a decade out of date and misses all recent growth from schemes like PMGSY, PM Kisan, and PMGDISHA.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097280"/>
            <a:ext cx="2743200" cy="64008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234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90195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village-level GDP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487168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National accounts are published at state level only. There is no official measure of economic output for individual villages, making traditional analysis impossible.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97280"/>
            <a:ext cx="2743200" cy="64008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234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1901952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Satellite data fills the gap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487168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VIIRS nighttime lights are free, annual, and cover every village in India. Peer-reviewed research confirms a 1% increase in lights corresponds to ~0.3% GDP growth.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7"/>
          </a:solidFill>
          <a:ln w="12700">
            <a:solidFill>
              <a:srgbClr val="1A2E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and Justification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143000"/>
          </a:xfrm>
          <a:prstGeom prst="rect">
            <a:avLst/>
          </a:prstGeom>
          <a:solidFill>
            <a:srgbClr val="1A2E47"/>
          </a:solidFill>
          <a:ln w="12700">
            <a:solidFill>
              <a:srgbClr val="0E9E8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75488" cy="1143000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754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170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VIIRS DNB Annual Nighttime Lights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44475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9E82"/>
                </a:solidFill>
              </a:rPr>
              <a:t>NOAA/NASA via SHRUG v2.1  ·  devdatalab.org/shrug_download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66420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Satellite radiance composites at ~500m resolution, updated every year. Used because village-level GDP does not exist — lights are the best available annual proxy. Henderson et al. (2011, AER) validated this relationship across 188 countries.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8595360" cy="1143000"/>
          </a:xfrm>
          <a:prstGeom prst="rect">
            <a:avLst/>
          </a:prstGeom>
          <a:solidFill>
            <a:srgbClr val="1A2E47"/>
          </a:solidFill>
          <a:ln w="12700">
            <a:solidFill>
              <a:srgbClr val="0E9E82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59152"/>
            <a:ext cx="475488" cy="1143000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59152"/>
            <a:ext cx="4754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243230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PMGSY Rural Road Connectivity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706624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9E82"/>
                </a:solidFill>
              </a:rPr>
              <a:t>Ministry of Rural Development, GoI via SHRUG v2.1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" y="292608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Records which villages received paved roads and total length built. Included because road access is the strongest measurable infrastructure proxy for market integration. Asher &amp; Novosad (2020, AER) show PMGSY roads raise agricultural wages 5–7% per year.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21024"/>
            <a:ext cx="8595360" cy="1143000"/>
          </a:xfrm>
          <a:prstGeom prst="rect">
            <a:avLst/>
          </a:prstGeom>
          <a:solidFill>
            <a:srgbClr val="1A2E47"/>
          </a:solidFill>
          <a:ln w="12700">
            <a:solidFill>
              <a:srgbClr val="0E9E82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21024"/>
            <a:ext cx="475488" cy="1143000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21024"/>
            <a:ext cx="47548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369417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Census 2011 — Primary Census Abstract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3968496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9E82"/>
                </a:solidFill>
              </a:rPr>
              <a:t>Office of the Registrar General, India via SHRUG v2.1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" y="418795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Village-level population for per-capita normalisation. Without this, large villages dominate the ranking purely due to size. This correction ensures the score reflects growth rate, not absolute wealth.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Economic growth = a village showing sustained increase in economic activity, measured by satellite light growth (primary), infrastructure access, and population-corrected light density.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2011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64208"/>
            <a:ext cx="20116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E82"/>
                </a:solidFill>
              </a:rPr>
              <a:t>Weight: 45%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0848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🛰️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Nighttime Light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45643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% change in VIIRS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radiance 2019 → 2021.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Primary economic signal.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664208"/>
            <a:ext cx="2011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664208"/>
            <a:ext cx="20116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E82"/>
                </a:solidFill>
              </a:rPr>
              <a:t>Weight: 25%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0592" y="20848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42032" y="2743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Level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42032" y="345643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Absolute brightness.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Confirms sustained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activity, not noise.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1664208"/>
            <a:ext cx="2011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1664208"/>
            <a:ext cx="20116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E82"/>
                </a:solidFill>
              </a:rPr>
              <a:t>Weight: 20%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26864" y="20848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🛣️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18304" y="2743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Connectivity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18304" y="345643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PMGSY completion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+ road length in km.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Market access proxy.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03136" y="1664208"/>
            <a:ext cx="2011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1664208"/>
            <a:ext cx="20116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E82"/>
                </a:solidFill>
              </a:rPr>
              <a:t>Weight: 10%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03136" y="20848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894576" y="2743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Adjusted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94576" y="3456432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Light per 1,000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people. Prevents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large-village bias.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9E82"/>
                </a:solidFill>
              </a:rPr>
              <a:t>Score  =  0.45 × Light Growth  +  0.25 × Light Level  +  0.20 × Road  +  0.10 × Pop Adjusted  ·  Each signal normalised 0–1 before weighting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241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Top 10 Villages by Growth Score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52578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5257800" cy="3337560"/>
        </p:xfrm>
        <a:graphic>
          <a:graphicData uri="http://schemas.openxmlformats.org/drawingml/2006/table">
            <a:tbl>
              <a:tblPr/>
              <a:tblGrid>
                <a:gridCol w="384048"/>
                <a:gridCol w="1325880"/>
                <a:gridCol w="1417320"/>
                <a:gridCol w="777240"/>
                <a:gridCol w="135331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kaliyapani grant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ekarani grant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bahar patti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uttar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bhuwangarh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madhya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kadlur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bashbaruni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bengal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uttarakhand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punjab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bengal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shahjahanpur garhi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uttar pradesh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1024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States in Top 100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0" y="137160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chandigarh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15200" y="1453896"/>
            <a:ext cx="91440" cy="201168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52360" y="13716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69280" y="176479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nct of delhi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15200" y="1847088"/>
            <a:ext cx="91440" cy="201168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176479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0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69280" y="215798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daman diu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315200" y="2240280"/>
            <a:ext cx="91440" cy="201168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2360" y="215798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0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0" y="255117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puducherry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315200" y="2633472"/>
            <a:ext cx="91440" cy="201168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55117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0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0" y="294436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dadra nagar h.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0" y="3026664"/>
            <a:ext cx="91440" cy="201168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52360" y="294436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0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69280" y="33375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chhattisgarh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315200" y="3419856"/>
            <a:ext cx="1463040" cy="201168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23960" y="333756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9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69280" y="373075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punjab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315200" y="3813048"/>
            <a:ext cx="812800" cy="201168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73720" y="37307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5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669280" y="412394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tamil nadu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315200" y="4206240"/>
            <a:ext cx="91440" cy="201168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52360" y="412394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7"/>
          </a:solidFill>
          <a:ln w="12700">
            <a:solidFill>
              <a:srgbClr val="1A2E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120640" cy="3767328"/>
          </a:xfrm>
          <a:prstGeom prst="rect">
            <a:avLst/>
          </a:prstGeom>
          <a:solidFill>
            <a:srgbClr val="1A2E47"/>
          </a:solidFill>
          <a:ln w="12700">
            <a:solidFill>
              <a:srgbClr val="0E9E82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155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Interactive Map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9E82"/>
                </a:solidFill>
              </a:rPr>
              <a:t>output/top100_villages_map.html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Open in any browser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Click any marker for village details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118872" cy="11887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2560320"/>
            <a:ext cx="118872" cy="11887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3474720"/>
            <a:ext cx="118872" cy="118872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194560"/>
            <a:ext cx="118872" cy="118872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743200"/>
            <a:ext cx="118872" cy="11887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377440"/>
            <a:ext cx="118872" cy="11887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2651760"/>
            <a:ext cx="118872" cy="11887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3200400"/>
            <a:ext cx="118872" cy="11887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3931920"/>
            <a:ext cx="118872" cy="118872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3657600"/>
            <a:ext cx="118872" cy="11887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474720"/>
            <a:ext cx="118872" cy="11887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2286000"/>
            <a:ext cx="118872" cy="11887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103120"/>
            <a:ext cx="118872" cy="11887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3200400"/>
            <a:ext cx="118872" cy="118872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4114800"/>
            <a:ext cx="118872" cy="11887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4315968"/>
            <a:ext cx="118872" cy="11887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26110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Tier 1 — Hotspot (80+)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4517136"/>
            <a:ext cx="118872" cy="118872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46227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Tier 2 — High Growth (65–80)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4718304"/>
            <a:ext cx="118872" cy="11887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66344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Tier 3 — Moderate (50–65)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4919472"/>
            <a:ext cx="118872" cy="11887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86460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Tier 4 — Emerging (&lt;50)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0A8"/>
                </a:solidFill>
              </a:rPr>
              <a:t>Score Distribution — Top 100</a:t>
            </a:r>
            <a:endParaRPr lang="en-US" sz="10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5577840" y="1353312"/>
          <a:ext cx="33832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/>
          <p:nvPr/>
        </p:nvSpPr>
        <p:spPr>
          <a:xfrm>
            <a:off x="557784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0A8"/>
                </a:solidFill>
              </a:rPr>
              <a:t>Top States by Average Score</a:t>
            </a:r>
            <a:endParaRPr lang="en-US" sz="1000" dirty="0"/>
          </a:p>
        </p:txBody>
      </p:sp>
      <p:graphicFrame>
        <p:nvGraphicFramePr>
          <p:cNvPr id="34" name="Chart 1" descr=""/>
          <p:cNvGraphicFramePr/>
          <p:nvPr/>
        </p:nvGraphicFramePr>
        <p:xfrm>
          <a:off x="5577840" y="4041648"/>
          <a:ext cx="338328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7"/>
          </a:solidFill>
          <a:ln w="12700">
            <a:solidFill>
              <a:srgbClr val="1A2E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794760"/>
          </a:xfrm>
          <a:prstGeom prst="rect">
            <a:avLst/>
          </a:prstGeom>
          <a:solidFill>
            <a:srgbClr val="1A2E47"/>
          </a:solidFill>
          <a:ln w="12700">
            <a:solidFill>
              <a:srgbClr val="E05252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90A8"/>
                </a:solidFill>
              </a:rPr>
              <a:t>SHRUG VIIRS data covers up to 2021. A true 2024 endpoint needs direct Google Earth Engine extraction.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90A8"/>
                </a:solidFill>
              </a:rPr>
              <a:t>Nighttime lights can bleed from nearby cities into adjacent village pixels at 500m resolution.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90A8"/>
                </a:solidFill>
              </a:rPr>
              <a:t>Census 2011 population figures are 14 years old. Population-adjusted scores are approximate.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90A8"/>
                </a:solidFill>
              </a:rPr>
              <a:t>Scores are proxy-based and not validated against household consumption surveys.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90A8"/>
                </a:solidFill>
              </a:rPr>
              <a:t>Village coordinates in the map are approximate — full accuracy needs SHRUG shapefile centroids.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3794760"/>
          </a:xfrm>
          <a:prstGeom prst="rect">
            <a:avLst/>
          </a:prstGeom>
          <a:solidFill>
            <a:srgbClr val="1A2E47"/>
          </a:solidFill>
          <a:ln w="12700">
            <a:solidFill>
              <a:srgbClr val="0E9E82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82"/>
                </a:solidFill>
              </a:rPr>
              <a:t>With More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554480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90A8"/>
                </a:solidFill>
              </a:rPr>
              <a:t>Pull 2022–2024 VIIRS data via Google Earth Engine to complete the five-year window.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90A8"/>
                </a:solidFill>
              </a:rPr>
              <a:t>Add TRAI mobile tower density as a fifth signal — mobile penetration is a strong rural economic proxy.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90A8"/>
                </a:solidFill>
              </a:rPr>
              <a:t>Validate scores against SECC 2011 consumption data and use regression to tune weights.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90A8"/>
                </a:solidFill>
              </a:rPr>
              <a:t>Replace approximate coordinates with SHRUG shapefile centroids for accurate map placement.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A90A8"/>
                </a:solidFill>
              </a:rPr>
              <a:t>Build an annual refresh pipeline that reruns automatically each April when new VIIRS data is released.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solidFill>
            <a:srgbClr val="0E9E82"/>
          </a:solidFill>
          <a:ln w="12700">
            <a:solidFill>
              <a:srgbClr val="0E9E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The pipeline, scoring logic, map, and outputs are production-ready. Plugging in full SHRUG data or GEE extraction is the only step to full scale.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2026-05-23T02:02:27Z</dcterms:created>
  <dcterms:modified xsi:type="dcterms:W3CDTF">2026-05-23T02:02:27Z</dcterms:modified>
</cp:coreProperties>
</file>